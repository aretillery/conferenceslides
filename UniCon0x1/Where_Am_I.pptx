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56" r:id="rId3"/>
    <p:sldId id="264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1" r:id="rId18"/>
    <p:sldId id="262" r:id="rId19"/>
    <p:sldId id="280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4536F1-EC06-4893-92F1-D952D88D05D0}">
  <a:tblStyle styleId="{814536F1-EC06-4893-92F1-D952D88D05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27"/>
  </p:normalViewPr>
  <p:slideViewPr>
    <p:cSldViewPr>
      <p:cViewPr varScale="1">
        <p:scale>
          <a:sx n="164" d="100"/>
          <a:sy n="164" d="100"/>
        </p:scale>
        <p:origin x="664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uFillTx/>
              </a:defRPr>
            </a:lvl1pPr>
          </a:lstStyle>
          <a:p>
            <a:endParaRPr lang="en-US"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uFillTx/>
              </a:defRPr>
            </a:lvl1pPr>
          </a:lstStyle>
          <a:p>
            <a:fld id="{98E94B8B-4FBA-4545-8B4A-A235354BF97B}" type="datetimeFigureOut">
              <a:rPr lang="en-US" smtClean="0">
                <a:uFillTx/>
              </a:rPr>
              <a:t>8/20/20</a:t>
            </a:fld>
            <a:endParaRPr lang="en-US">
              <a:uFillTx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uFillTx/>
              </a:defRPr>
            </a:lvl1pPr>
          </a:lstStyle>
          <a:p>
            <a:endParaRPr lang="en-US">
              <a:uFillTx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uFillTx/>
              </a:defRPr>
            </a:lvl1pPr>
          </a:lstStyle>
          <a:p>
            <a:fld id="{F16291F5-E577-8A4B-8679-04C77118995B}" type="slidenum">
              <a:rPr lang="en-US" smtClean="0">
                <a:uFillTx/>
              </a:rPr>
              <a:t>‹#›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uFillTx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>
                <a:uFillTx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>
                <a:uFillTx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uFillTx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>
                <a:uFillTx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>
                <a:uFillTx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uFillTx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>
                <a:uFillTx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>
                <a:uFillTx/>
              </a:defRPr>
            </a:lvl9pPr>
          </a:lstStyle>
          <a:p>
            <a:endParaRPr>
              <a:uFillTx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1ab5e51f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51ab5e51f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cafbf0d1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5cafbf0d1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06869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options for weighting of results / calculation of heuristics</a:t>
            </a:r>
          </a:p>
        </p:txBody>
      </p:sp>
    </p:spTree>
    <p:extLst>
      <p:ext uri="{BB962C8B-B14F-4D97-AF65-F5344CB8AC3E}">
        <p14:creationId xmlns:p14="http://schemas.microsoft.com/office/powerpoint/2010/main" val="193495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cafbf0d1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5cafbf0d1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768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uFillTx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 dirty="0">
              <a:uFillTx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uFillTx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uFillTx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>
            <a:spLocks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uFillTx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9pPr>
          </a:lstStyle>
          <a:p>
            <a:r>
              <a:rPr>
                <a:uFillTx/>
              </a:rP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uFillTx/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  <a:uFillTx/>
              </a:defRPr>
            </a:lvl1pPr>
            <a:lvl2pPr lvl="1" rtl="0">
              <a:buNone/>
              <a:defRPr>
                <a:solidFill>
                  <a:srgbClr val="FFFFFF"/>
                </a:solidFill>
                <a:uFillTx/>
              </a:defRPr>
            </a:lvl2pPr>
            <a:lvl3pPr lvl="2" rtl="0">
              <a:buNone/>
              <a:defRPr>
                <a:solidFill>
                  <a:srgbClr val="FFFFFF"/>
                </a:solidFill>
                <a:uFillTx/>
              </a:defRPr>
            </a:lvl3pPr>
            <a:lvl4pPr lvl="3" rtl="0">
              <a:buNone/>
              <a:defRPr>
                <a:solidFill>
                  <a:srgbClr val="FFFFFF"/>
                </a:solidFill>
                <a:uFillTx/>
              </a:defRPr>
            </a:lvl4pPr>
            <a:lvl5pPr lvl="4" rtl="0">
              <a:buNone/>
              <a:defRPr>
                <a:solidFill>
                  <a:srgbClr val="FFFFFF"/>
                </a:solidFill>
                <a:uFillTx/>
              </a:defRPr>
            </a:lvl5pPr>
            <a:lvl6pPr lvl="5" rtl="0">
              <a:buNone/>
              <a:defRPr>
                <a:solidFill>
                  <a:srgbClr val="FFFFFF"/>
                </a:solidFill>
                <a:uFillTx/>
              </a:defRPr>
            </a:lvl6pPr>
            <a:lvl7pPr lvl="6" rtl="0">
              <a:buNone/>
              <a:defRPr>
                <a:solidFill>
                  <a:srgbClr val="FFFFFF"/>
                </a:solidFill>
                <a:uFillTx/>
              </a:defRPr>
            </a:lvl7pPr>
            <a:lvl8pPr lvl="7" rtl="0">
              <a:buNone/>
              <a:defRPr>
                <a:solidFill>
                  <a:srgbClr val="FFFFFF"/>
                </a:solidFill>
                <a:uFillTx/>
              </a:defRPr>
            </a:lvl8pPr>
            <a:lvl9pPr lvl="8" rtl="0">
              <a:buNone/>
              <a:defRPr>
                <a:solidFill>
                  <a:srgbClr val="FFFFFF"/>
                </a:solidFill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  <p:cxnSp>
        <p:nvCxnSpPr>
          <p:cNvPr id="56" name="Google Shape;56;p14"/>
          <p:cNvCxnSpPr/>
          <p:nvPr/>
        </p:nvCxnSpPr>
        <p:spPr>
          <a:xfrm>
            <a:off x="4165100" y="1521900"/>
            <a:ext cx="7200" cy="2219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4445500" y="2716225"/>
            <a:ext cx="4060800" cy="7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uFillTx/>
                <a:latin typeface="Droid Sans"/>
                <a:ea typeface="Droid Sans"/>
                <a:cs typeface="Droid Sans"/>
                <a:sym typeface="Droid Sa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uFillTx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uFillTx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uFillTx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uFillTx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uFillTx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uFillTx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uFillTx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cxnSp>
        <p:nvCxnSpPr>
          <p:cNvPr id="58" name="Google Shape;58;p14"/>
          <p:cNvCxnSpPr/>
          <p:nvPr/>
        </p:nvCxnSpPr>
        <p:spPr>
          <a:xfrm rot="10800000" flipH="1">
            <a:off x="4431200" y="2716225"/>
            <a:ext cx="3845400" cy="72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445500" y="1973375"/>
            <a:ext cx="3845400" cy="6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uFillTx/>
                <a:latin typeface="Droid Sans"/>
                <a:ea typeface="Droid Sans"/>
                <a:cs typeface="Droid Sans"/>
                <a:sym typeface="Droid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2"/>
          </p:nvPr>
        </p:nvSpPr>
        <p:spPr>
          <a:xfrm>
            <a:off x="657800" y="4069625"/>
            <a:ext cx="7922400" cy="4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uFillTx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655200" y="1726653"/>
            <a:ext cx="3397500" cy="1722059"/>
            <a:chOff x="655200" y="1726653"/>
            <a:chExt cx="3397500" cy="1722059"/>
          </a:xfrm>
        </p:grpSpPr>
        <p:pic>
          <p:nvPicPr>
            <p:cNvPr id="62" name="Google Shape;62;p14" descr="Copy of grimm_final_logo_PNG.png"/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709200" y="1726653"/>
              <a:ext cx="3209400" cy="14150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 txBox="1">
              <a:spLocks/>
            </p:cNvSpPr>
            <p:nvPr/>
          </p:nvSpPr>
          <p:spPr>
            <a:xfrm>
              <a:off x="655200" y="3177213"/>
              <a:ext cx="33975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uFillTx/>
                  <a:latin typeface="Droid Sans"/>
                  <a:ea typeface="Droid Sans"/>
                  <a:cs typeface="Droid Sans"/>
                  <a:sym typeface="Droid Sans"/>
                </a:rPr>
                <a:t>Innovation | Passion | Humility | Capacity | Agility</a:t>
              </a:r>
              <a:endParaRPr sz="1000" b="1">
                <a:uFillTx/>
                <a:latin typeface="Droid Sans"/>
                <a:ea typeface="Droid Sans"/>
                <a:cs typeface="Droid Sans"/>
                <a:sym typeface="Droid Sans"/>
              </a:endParaRPr>
            </a:p>
          </p:txBody>
        </p:sp>
        <p:cxnSp>
          <p:nvCxnSpPr>
            <p:cNvPr id="64" name="Google Shape;64;p14"/>
            <p:cNvCxnSpPr/>
            <p:nvPr/>
          </p:nvCxnSpPr>
          <p:spPr>
            <a:xfrm rot="10800000">
              <a:off x="713250" y="3177225"/>
              <a:ext cx="3209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11525"/>
            <a:ext cx="8520600" cy="3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Char char="●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○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■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●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○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■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●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○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Droid Sans"/>
              <a:buChar char="■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74" name="Google Shape;74;p16"/>
          <p:cNvSpPr>
            <a:spLocks/>
          </p:cNvSpPr>
          <p:nvPr/>
        </p:nvSpPr>
        <p:spPr>
          <a:xfrm>
            <a:off x="0" y="-13787"/>
            <a:ext cx="9144000" cy="1503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uFillTx/>
            </a:endParaRPr>
          </a:p>
        </p:txBody>
      </p:sp>
      <p:sp>
        <p:nvSpPr>
          <p:cNvPr id="75" name="Google Shape;75;p16"/>
          <p:cNvSpPr>
            <a:spLocks/>
          </p:cNvSpPr>
          <p:nvPr/>
        </p:nvSpPr>
        <p:spPr>
          <a:xfrm>
            <a:off x="0" y="1054517"/>
            <a:ext cx="9144000" cy="5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uFillTx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1963000" y="536425"/>
            <a:ext cx="5107500" cy="44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8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uFillTx/>
              </a:defRPr>
            </a:lvl1pPr>
            <a:lvl2pPr lvl="1" rtl="0">
              <a:buNone/>
              <a:defRPr>
                <a:uFillTx/>
              </a:defRPr>
            </a:lvl2pPr>
            <a:lvl3pPr lvl="2" rtl="0">
              <a:buNone/>
              <a:defRPr>
                <a:uFillTx/>
              </a:defRPr>
            </a:lvl3pPr>
            <a:lvl4pPr lvl="3" rtl="0">
              <a:buNone/>
              <a:defRPr>
                <a:uFillTx/>
              </a:defRPr>
            </a:lvl4pPr>
            <a:lvl5pPr lvl="4" rtl="0">
              <a:buNone/>
              <a:defRPr>
                <a:uFillTx/>
              </a:defRPr>
            </a:lvl5pPr>
            <a:lvl6pPr lvl="5" rtl="0">
              <a:buNone/>
              <a:defRPr>
                <a:uFillTx/>
              </a:defRPr>
            </a:lvl6pPr>
            <a:lvl7pPr lvl="6" rtl="0">
              <a:buNone/>
              <a:defRPr>
                <a:uFillTx/>
              </a:defRPr>
            </a:lvl7pPr>
            <a:lvl8pPr lvl="7" rtl="0">
              <a:buNone/>
              <a:defRPr>
                <a:uFillTx/>
              </a:defRPr>
            </a:lvl8pPr>
            <a:lvl9pPr lvl="8" rtl="0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  <p:sp>
        <p:nvSpPr>
          <p:cNvPr id="78" name="Google Shape;78;p16"/>
          <p:cNvSpPr>
            <a:spLocks/>
          </p:cNvSpPr>
          <p:nvPr/>
        </p:nvSpPr>
        <p:spPr>
          <a:xfrm>
            <a:off x="0" y="4871975"/>
            <a:ext cx="9144000" cy="271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uFillTx/>
                <a:latin typeface="Droid Sans"/>
                <a:ea typeface="Droid Sans"/>
                <a:cs typeface="Droid Sans"/>
                <a:sym typeface="Droid Sans"/>
              </a:rPr>
              <a:t>					</a:t>
            </a:r>
            <a:endParaRPr dirty="0">
              <a:solidFill>
                <a:srgbClr val="FFFFFF"/>
              </a:solidFill>
              <a:uFillTx/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2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solidFill>
                  <a:srgbClr val="FFFFFF"/>
                </a:solidFill>
                <a:uFillTx/>
              </a:defRPr>
            </a:lvl1pPr>
            <a:lvl2pPr lvl="1" rtl="0">
              <a:buNone/>
              <a:defRPr sz="1200">
                <a:solidFill>
                  <a:srgbClr val="FFFFFF"/>
                </a:solidFill>
                <a:uFillTx/>
              </a:defRPr>
            </a:lvl2pPr>
            <a:lvl3pPr lvl="2" rtl="0">
              <a:buNone/>
              <a:defRPr sz="1200">
                <a:solidFill>
                  <a:srgbClr val="FFFFFF"/>
                </a:solidFill>
                <a:uFillTx/>
              </a:defRPr>
            </a:lvl3pPr>
            <a:lvl4pPr lvl="3" rtl="0">
              <a:buNone/>
              <a:defRPr sz="1200">
                <a:solidFill>
                  <a:srgbClr val="FFFFFF"/>
                </a:solidFill>
                <a:uFillTx/>
              </a:defRPr>
            </a:lvl4pPr>
            <a:lvl5pPr lvl="4" rtl="0">
              <a:buNone/>
              <a:defRPr sz="1200">
                <a:solidFill>
                  <a:srgbClr val="FFFFFF"/>
                </a:solidFill>
                <a:uFillTx/>
              </a:defRPr>
            </a:lvl5pPr>
            <a:lvl6pPr lvl="5" rtl="0">
              <a:buNone/>
              <a:defRPr sz="1200">
                <a:solidFill>
                  <a:srgbClr val="FFFFFF"/>
                </a:solidFill>
                <a:uFillTx/>
              </a:defRPr>
            </a:lvl6pPr>
            <a:lvl7pPr lvl="6" rtl="0">
              <a:buNone/>
              <a:defRPr sz="1200">
                <a:solidFill>
                  <a:srgbClr val="FFFFFF"/>
                </a:solidFill>
                <a:uFillTx/>
              </a:defRPr>
            </a:lvl7pPr>
            <a:lvl8pPr lvl="7" rtl="0">
              <a:buNone/>
              <a:defRPr sz="1200">
                <a:solidFill>
                  <a:srgbClr val="FFFFFF"/>
                </a:solidFill>
                <a:uFillTx/>
              </a:defRPr>
            </a:lvl8pPr>
            <a:lvl9pPr lvl="8" rtl="0">
              <a:buNone/>
              <a:defRPr sz="1200">
                <a:solidFill>
                  <a:srgbClr val="FFFFFF"/>
                </a:solidFill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  <a:latin typeface="Droid Sans"/>
              <a:ea typeface="Droid Sans"/>
              <a:cs typeface="Droid Sans"/>
              <a:sym typeface="Droid Sans"/>
            </a:endParaRPr>
          </a:p>
        </p:txBody>
      </p:sp>
      <p:pic>
        <p:nvPicPr>
          <p:cNvPr id="80" name="Google Shape;80;p16" descr="Copy of grimm_final_logo_PNG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291740" y="195250"/>
            <a:ext cx="1776036" cy="78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>
            <a:spLocks/>
          </p:cNvSpPr>
          <p:nvPr/>
        </p:nvSpPr>
        <p:spPr>
          <a:xfrm>
            <a:off x="0" y="-13787"/>
            <a:ext cx="9144000" cy="1503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uFillTx/>
            </a:endParaRPr>
          </a:p>
        </p:txBody>
      </p:sp>
      <p:sp>
        <p:nvSpPr>
          <p:cNvPr id="83" name="Google Shape;83;p17"/>
          <p:cNvSpPr>
            <a:spLocks/>
          </p:cNvSpPr>
          <p:nvPr/>
        </p:nvSpPr>
        <p:spPr>
          <a:xfrm>
            <a:off x="0" y="1054517"/>
            <a:ext cx="9144000" cy="5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uFillTx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uFillTx/>
              </a:defRPr>
            </a:lvl1pPr>
            <a:lvl2pPr lvl="1" rtl="0">
              <a:buNone/>
              <a:defRPr>
                <a:uFillTx/>
              </a:defRPr>
            </a:lvl2pPr>
            <a:lvl3pPr lvl="2" rtl="0">
              <a:buNone/>
              <a:defRPr>
                <a:uFillTx/>
              </a:defRPr>
            </a:lvl3pPr>
            <a:lvl4pPr lvl="3" rtl="0">
              <a:buNone/>
              <a:defRPr>
                <a:uFillTx/>
              </a:defRPr>
            </a:lvl4pPr>
            <a:lvl5pPr lvl="4" rtl="0">
              <a:buNone/>
              <a:defRPr>
                <a:uFillTx/>
              </a:defRPr>
            </a:lvl5pPr>
            <a:lvl6pPr lvl="5" rtl="0">
              <a:buNone/>
              <a:defRPr>
                <a:uFillTx/>
              </a:defRPr>
            </a:lvl6pPr>
            <a:lvl7pPr lvl="6" rtl="0">
              <a:buNone/>
              <a:defRPr>
                <a:uFillTx/>
              </a:defRPr>
            </a:lvl7pPr>
            <a:lvl8pPr lvl="7" rtl="0">
              <a:buNone/>
              <a:defRPr>
                <a:uFillTx/>
              </a:defRPr>
            </a:lvl8pPr>
            <a:lvl9pPr lvl="8" rtl="0">
              <a:buNone/>
              <a:defRPr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11525"/>
            <a:ext cx="3854700" cy="37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Char char="●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○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■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●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○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■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●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○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Droid Sans"/>
              <a:buChar char="■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4991025" y="1107025"/>
            <a:ext cx="3854700" cy="37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Char char="●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○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■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●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○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■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●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roid Sans"/>
              <a:buChar char="○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Droid Sans"/>
              <a:buChar char="■"/>
              <a:defRPr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1963000" y="536425"/>
            <a:ext cx="5107500" cy="44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980000"/>
                </a:solidFill>
                <a:uFillTx/>
                <a:latin typeface="Droid Sans"/>
                <a:ea typeface="Droid Sans"/>
                <a:cs typeface="Droid Sans"/>
                <a:sym typeface="Droid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88" name="Google Shape;88;p17"/>
          <p:cNvSpPr>
            <a:spLocks/>
          </p:cNvSpPr>
          <p:nvPr/>
        </p:nvSpPr>
        <p:spPr>
          <a:xfrm>
            <a:off x="0" y="4871975"/>
            <a:ext cx="9144000" cy="271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uFillTx/>
                <a:latin typeface="Droid Sans"/>
                <a:ea typeface="Droid Sans"/>
                <a:cs typeface="Droid Sans"/>
                <a:sym typeface="Droid Sans"/>
              </a:rPr>
              <a:t>					</a:t>
            </a:r>
            <a:endParaRPr dirty="0">
              <a:solidFill>
                <a:srgbClr val="FFFFFF"/>
              </a:solidFill>
              <a:uFillTx/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3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solidFill>
                  <a:srgbClr val="FFFFFF"/>
                </a:solidFill>
                <a:uFillTx/>
              </a:defRPr>
            </a:lvl1pPr>
            <a:lvl2pPr lvl="1" rtl="0">
              <a:buNone/>
              <a:defRPr sz="1200">
                <a:solidFill>
                  <a:srgbClr val="FFFFFF"/>
                </a:solidFill>
                <a:uFillTx/>
              </a:defRPr>
            </a:lvl2pPr>
            <a:lvl3pPr lvl="2" rtl="0">
              <a:buNone/>
              <a:defRPr sz="1200">
                <a:solidFill>
                  <a:srgbClr val="FFFFFF"/>
                </a:solidFill>
                <a:uFillTx/>
              </a:defRPr>
            </a:lvl3pPr>
            <a:lvl4pPr lvl="3" rtl="0">
              <a:buNone/>
              <a:defRPr sz="1200">
                <a:solidFill>
                  <a:srgbClr val="FFFFFF"/>
                </a:solidFill>
                <a:uFillTx/>
              </a:defRPr>
            </a:lvl4pPr>
            <a:lvl5pPr lvl="4" rtl="0">
              <a:buNone/>
              <a:defRPr sz="1200">
                <a:solidFill>
                  <a:srgbClr val="FFFFFF"/>
                </a:solidFill>
                <a:uFillTx/>
              </a:defRPr>
            </a:lvl5pPr>
            <a:lvl6pPr lvl="5" rtl="0">
              <a:buNone/>
              <a:defRPr sz="1200">
                <a:solidFill>
                  <a:srgbClr val="FFFFFF"/>
                </a:solidFill>
                <a:uFillTx/>
              </a:defRPr>
            </a:lvl6pPr>
            <a:lvl7pPr lvl="6" rtl="0">
              <a:buNone/>
              <a:defRPr sz="1200">
                <a:solidFill>
                  <a:srgbClr val="FFFFFF"/>
                </a:solidFill>
                <a:uFillTx/>
              </a:defRPr>
            </a:lvl7pPr>
            <a:lvl8pPr lvl="7" rtl="0">
              <a:buNone/>
              <a:defRPr sz="1200">
                <a:solidFill>
                  <a:srgbClr val="FFFFFF"/>
                </a:solidFill>
                <a:uFillTx/>
              </a:defRPr>
            </a:lvl8pPr>
            <a:lvl9pPr lvl="8" rtl="0">
              <a:buNone/>
              <a:defRPr sz="1200">
                <a:solidFill>
                  <a:srgbClr val="FFFFFF"/>
                </a:solidFill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  <a:latin typeface="Droid Sans"/>
              <a:ea typeface="Droid Sans"/>
              <a:cs typeface="Droid Sans"/>
              <a:sym typeface="Droid Sans"/>
            </a:endParaRPr>
          </a:p>
        </p:txBody>
      </p:sp>
      <p:pic>
        <p:nvPicPr>
          <p:cNvPr id="90" name="Google Shape;90;p17" descr="Copy of grimm_final_logo_PNG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7291740" y="195250"/>
            <a:ext cx="1776036" cy="78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  <a:uFillTx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uFillTx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uFillTx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  <a:uFillTx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uFillTx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uFillTx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  <a:uFillTx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uFillTx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uFillTx/>
              </a:defRPr>
            </a:lvl1pPr>
            <a:lvl2pPr lvl="1" algn="r">
              <a:buNone/>
              <a:defRPr sz="1000">
                <a:solidFill>
                  <a:schemeClr val="dk2"/>
                </a:solidFill>
                <a:uFillTx/>
              </a:defRPr>
            </a:lvl2pPr>
            <a:lvl3pPr lvl="2" algn="r">
              <a:buNone/>
              <a:defRPr sz="1000">
                <a:solidFill>
                  <a:schemeClr val="dk2"/>
                </a:solidFill>
                <a:uFillTx/>
              </a:defRPr>
            </a:lvl3pPr>
            <a:lvl4pPr lvl="3" algn="r">
              <a:buNone/>
              <a:defRPr sz="1000">
                <a:solidFill>
                  <a:schemeClr val="dk2"/>
                </a:solidFill>
                <a:uFillTx/>
              </a:defRPr>
            </a:lvl4pPr>
            <a:lvl5pPr lvl="4" algn="r">
              <a:buNone/>
              <a:defRPr sz="1000">
                <a:solidFill>
                  <a:schemeClr val="dk2"/>
                </a:solidFill>
                <a:uFillTx/>
              </a:defRPr>
            </a:lvl5pPr>
            <a:lvl6pPr lvl="5" algn="r">
              <a:buNone/>
              <a:defRPr sz="1000">
                <a:solidFill>
                  <a:schemeClr val="dk2"/>
                </a:solidFill>
                <a:uFillTx/>
              </a:defRPr>
            </a:lvl6pPr>
            <a:lvl7pPr lvl="6" algn="r">
              <a:buNone/>
              <a:defRPr sz="1000">
                <a:solidFill>
                  <a:schemeClr val="dk2"/>
                </a:solidFill>
                <a:uFillTx/>
              </a:defRPr>
            </a:lvl7pPr>
            <a:lvl8pPr lvl="7" algn="r">
              <a:buNone/>
              <a:defRPr sz="1000">
                <a:solidFill>
                  <a:schemeClr val="dk2"/>
                </a:solidFill>
                <a:uFillTx/>
              </a:defRPr>
            </a:lvl8pPr>
            <a:lvl9pPr lvl="8" algn="r">
              <a:buNone/>
              <a:defRPr sz="1000">
                <a:solidFill>
                  <a:schemeClr val="dk2"/>
                </a:solidFill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058900" cy="9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11525"/>
            <a:ext cx="8520600" cy="3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  <a:uFillTx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uFillTx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uFillTx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  <a:uFillTx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uFillTx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uFillTx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  <a:uFillTx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uFillTx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uFillTx/>
              </a:defRPr>
            </a:lvl9pPr>
          </a:lstStyle>
          <a:p>
            <a:endParaRPr>
              <a:uFillTx/>
            </a:endParaRPr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uFillTx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uFillTx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uFillTx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uFillTx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uFillTx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uFillTx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uFillTx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uFillTx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uFillTx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subTitle" idx="1"/>
          </p:nvPr>
        </p:nvSpPr>
        <p:spPr>
          <a:xfrm>
            <a:off x="4445500" y="2792425"/>
            <a:ext cx="4451700" cy="7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rPr>
              <a:t>Or: VM Detection for a more civilized age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When blindly executing isn’t enough.</a:t>
            </a:r>
            <a:endParaRPr sz="1400" b="1" dirty="0">
              <a:solidFill>
                <a:srgbClr val="000000"/>
              </a:solidFill>
              <a:uFillTx/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>
                <a:uFillTx/>
              </a:rPr>
              <a:t>1</a:t>
            </a:fld>
            <a:endParaRPr sz="1200">
              <a:uFillTx/>
            </a:endParaRPr>
          </a:p>
        </p:txBody>
      </p:sp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4445500" y="1973375"/>
            <a:ext cx="3845400" cy="67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Droid Sans"/>
              <a:buNone/>
            </a:pPr>
            <a:r>
              <a:rPr lang="en-US" sz="1800" b="1" dirty="0">
                <a:solidFill>
                  <a:srgbClr val="000000"/>
                </a:solidFill>
                <a:uFillTx/>
                <a:latin typeface="Droid Sans"/>
                <a:ea typeface="Droid Sans"/>
                <a:cs typeface="Droid Sans"/>
                <a:sym typeface="Droid Sans"/>
              </a:rPr>
              <a:t>Where Am I?</a:t>
            </a:r>
            <a:endParaRPr sz="1800" b="1" dirty="0">
              <a:solidFill>
                <a:srgbClr val="000000"/>
              </a:solidFill>
              <a:uFillTx/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2</a:t>
            </a:fld>
            <a:endParaRPr>
              <a:uFillTx/>
            </a:endParaRPr>
          </a:p>
        </p:txBody>
      </p:sp>
      <p:sp>
        <p:nvSpPr>
          <p:cNvPr id="137" name="Google Shape;137;p24"/>
          <p:cNvSpPr txBox="1">
            <a:spLocks noGrp="1"/>
          </p:cNvSpPr>
          <p:nvPr>
            <p:ph type="sldNum" idx="3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2</a:t>
            </a:fld>
            <a:endParaRPr dirty="0">
              <a:uFillTx/>
            </a:endParaRPr>
          </a:p>
        </p:txBody>
      </p:sp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63500" y="234700"/>
            <a:ext cx="7128900" cy="7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dirty="0">
                <a:uFillTx/>
              </a:rPr>
              <a:t>Who Am I?</a:t>
            </a:r>
            <a:endParaRPr sz="2200" dirty="0">
              <a:uFillTx/>
            </a:endParaRP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E49A6F-1403-0043-B7B9-670B51E07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8" name="Google Shape;157;p16">
            <a:extLst>
              <a:ext uri="{FF2B5EF4-FFF2-40B4-BE49-F238E27FC236}">
                <a16:creationId xmlns:a16="http://schemas.microsoft.com/office/drawing/2014/main" id="{09756ABD-092C-3648-83D4-81BCDE4A4859}"/>
              </a:ext>
            </a:extLst>
          </p:cNvPr>
          <p:cNvSpPr>
            <a:spLocks/>
          </p:cNvSpPr>
          <p:nvPr/>
        </p:nvSpPr>
        <p:spPr>
          <a:xfrm>
            <a:off x="126300" y="1573488"/>
            <a:ext cx="1922431" cy="377100"/>
          </a:xfrm>
          <a:prstGeom prst="rect">
            <a:avLst/>
          </a:prstGeom>
          <a:solidFill>
            <a:srgbClr val="26262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E7E7E7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HPC / Data Science</a:t>
            </a:r>
            <a:endParaRPr sz="1000" dirty="0">
              <a:solidFill>
                <a:srgbClr val="E7E7E7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158;p16">
            <a:extLst>
              <a:ext uri="{FF2B5EF4-FFF2-40B4-BE49-F238E27FC236}">
                <a16:creationId xmlns:a16="http://schemas.microsoft.com/office/drawing/2014/main" id="{1686B09F-8498-5A4E-811B-40A8D1491CAF}"/>
              </a:ext>
            </a:extLst>
          </p:cNvPr>
          <p:cNvSpPr>
            <a:spLocks/>
          </p:cNvSpPr>
          <p:nvPr/>
        </p:nvSpPr>
        <p:spPr>
          <a:xfrm>
            <a:off x="126300" y="1950588"/>
            <a:ext cx="2460116" cy="2449962"/>
          </a:xfrm>
          <a:prstGeom prst="roundRect">
            <a:avLst>
              <a:gd name="adj" fmla="val 123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r>
              <a:rPr lang="en" sz="1000" b="1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Applied Math Stuff - </a:t>
            </a:r>
            <a:r>
              <a:rPr lang="en" sz="1000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providing executive leadership the tools to effectively manage a cybersecurity program</a:t>
            </a:r>
            <a:endParaRPr sz="1000" dirty="0">
              <a:solidFill>
                <a:schemeClr val="dk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lvl="0" indent="-1905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r>
              <a:rPr lang="en" sz="1000" b="1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Computational Fluid Dynamics </a:t>
            </a:r>
            <a:r>
              <a:rPr lang="en" sz="1000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(AKA fixing Meteorologist’s bad code)</a:t>
            </a:r>
            <a:endParaRPr lang="en" sz="1000" dirty="0">
              <a:solidFill>
                <a:schemeClr val="dk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lvl="0" indent="-1905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r>
              <a:rPr lang="en" sz="1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Cyber Threat Intelligence – </a:t>
            </a:r>
            <a:r>
              <a:rPr lang="en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Figuring out all the things about all the I</a:t>
            </a:r>
            <a:r>
              <a:rPr lang="en-US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Ps</a:t>
            </a:r>
            <a:endParaRPr sz="1000" b="1" dirty="0">
              <a:solidFill>
                <a:schemeClr val="dk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Google Shape;159;p16">
            <a:extLst>
              <a:ext uri="{FF2B5EF4-FFF2-40B4-BE49-F238E27FC236}">
                <a16:creationId xmlns:a16="http://schemas.microsoft.com/office/drawing/2014/main" id="{95E24CEC-14E5-3A4C-9694-0244FE0C7A7D}"/>
              </a:ext>
            </a:extLst>
          </p:cNvPr>
          <p:cNvSpPr>
            <a:spLocks/>
          </p:cNvSpPr>
          <p:nvPr/>
        </p:nvSpPr>
        <p:spPr>
          <a:xfrm>
            <a:off x="2004690" y="1573488"/>
            <a:ext cx="585000" cy="377100"/>
          </a:xfrm>
          <a:prstGeom prst="rect">
            <a:avLst/>
          </a:prstGeom>
          <a:solidFill>
            <a:srgbClr val="52525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E7E7E7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2CFD93-0F7F-FA4D-8F09-CCDDAE20BA3C}"/>
              </a:ext>
            </a:extLst>
          </p:cNvPr>
          <p:cNvSpPr txBox="1"/>
          <p:nvPr/>
        </p:nvSpPr>
        <p:spPr>
          <a:xfrm>
            <a:off x="3763926" y="1176216"/>
            <a:ext cx="1616148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dirty="0"/>
              <a:t>Tillery (they/them)</a:t>
            </a:r>
          </a:p>
        </p:txBody>
      </p:sp>
      <p:sp>
        <p:nvSpPr>
          <p:cNvPr id="12" name="Google Shape;157;p16">
            <a:extLst>
              <a:ext uri="{FF2B5EF4-FFF2-40B4-BE49-F238E27FC236}">
                <a16:creationId xmlns:a16="http://schemas.microsoft.com/office/drawing/2014/main" id="{2048812C-A651-6840-BF7F-E0F052FF1110}"/>
              </a:ext>
            </a:extLst>
          </p:cNvPr>
          <p:cNvSpPr>
            <a:spLocks/>
          </p:cNvSpPr>
          <p:nvPr/>
        </p:nvSpPr>
        <p:spPr>
          <a:xfrm>
            <a:off x="3429000" y="1573488"/>
            <a:ext cx="1922431" cy="377100"/>
          </a:xfrm>
          <a:prstGeom prst="rect">
            <a:avLst/>
          </a:prstGeom>
          <a:solidFill>
            <a:srgbClr val="26262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E7E7E7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Reverse Engineering</a:t>
            </a:r>
            <a:endParaRPr sz="1000" dirty="0">
              <a:solidFill>
                <a:srgbClr val="E7E7E7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158;p16">
            <a:extLst>
              <a:ext uri="{FF2B5EF4-FFF2-40B4-BE49-F238E27FC236}">
                <a16:creationId xmlns:a16="http://schemas.microsoft.com/office/drawing/2014/main" id="{AC62BA55-2F1F-E647-93E0-36CFC3018CB8}"/>
              </a:ext>
            </a:extLst>
          </p:cNvPr>
          <p:cNvSpPr>
            <a:spLocks/>
          </p:cNvSpPr>
          <p:nvPr/>
        </p:nvSpPr>
        <p:spPr>
          <a:xfrm>
            <a:off x="3429000" y="1950588"/>
            <a:ext cx="2460116" cy="2449962"/>
          </a:xfrm>
          <a:prstGeom prst="roundRect">
            <a:avLst>
              <a:gd name="adj" fmla="val 123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r>
              <a:rPr lang="en-US" sz="1000" b="1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Vulnerability Research – </a:t>
            </a:r>
            <a:r>
              <a:rPr lang="en-US" sz="1000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with a focus on x86/64 (Particularly Windows)</a:t>
            </a:r>
          </a:p>
          <a:p>
            <a:pPr marL="228600" lvl="0" indent="-1905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r>
              <a:rPr lang="en" sz="1000" b="1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File and Network Protocol – </a:t>
            </a:r>
            <a:r>
              <a:rPr lang="en" sz="1000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lucked into focusing here based on need</a:t>
            </a:r>
            <a:endParaRPr lang="en" sz="1000" b="1" dirty="0">
              <a:solidFill>
                <a:schemeClr val="dk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lvl="0" indent="-1905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r>
              <a:rPr lang="en" sz="1000" b="1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Malware </a:t>
            </a:r>
            <a:r>
              <a:rPr lang="en" sz="1000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Never my main focus, but I’ve spent a lot of time on it</a:t>
            </a:r>
            <a:endParaRPr sz="1000" dirty="0">
              <a:solidFill>
                <a:schemeClr val="dk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159;p16">
            <a:extLst>
              <a:ext uri="{FF2B5EF4-FFF2-40B4-BE49-F238E27FC236}">
                <a16:creationId xmlns:a16="http://schemas.microsoft.com/office/drawing/2014/main" id="{1CEE6412-CAB4-1F41-B42A-39D0A891C00B}"/>
              </a:ext>
            </a:extLst>
          </p:cNvPr>
          <p:cNvSpPr>
            <a:spLocks/>
          </p:cNvSpPr>
          <p:nvPr/>
        </p:nvSpPr>
        <p:spPr>
          <a:xfrm>
            <a:off x="5307390" y="1573488"/>
            <a:ext cx="585000" cy="377100"/>
          </a:xfrm>
          <a:prstGeom prst="rect">
            <a:avLst/>
          </a:prstGeom>
          <a:solidFill>
            <a:srgbClr val="52525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E7E7E7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157;p16">
            <a:extLst>
              <a:ext uri="{FF2B5EF4-FFF2-40B4-BE49-F238E27FC236}">
                <a16:creationId xmlns:a16="http://schemas.microsoft.com/office/drawing/2014/main" id="{D93EC435-4BB2-F54B-B8E2-E815EB83F159}"/>
              </a:ext>
            </a:extLst>
          </p:cNvPr>
          <p:cNvSpPr>
            <a:spLocks/>
          </p:cNvSpPr>
          <p:nvPr/>
        </p:nvSpPr>
        <p:spPr>
          <a:xfrm>
            <a:off x="6528210" y="1573488"/>
            <a:ext cx="1922431" cy="377100"/>
          </a:xfrm>
          <a:prstGeom prst="rect">
            <a:avLst/>
          </a:prstGeom>
          <a:solidFill>
            <a:srgbClr val="26262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E7E7E7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Training and Education</a:t>
            </a:r>
            <a:endParaRPr sz="1000" dirty="0">
              <a:solidFill>
                <a:srgbClr val="E7E7E7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Google Shape;158;p16">
            <a:extLst>
              <a:ext uri="{FF2B5EF4-FFF2-40B4-BE49-F238E27FC236}">
                <a16:creationId xmlns:a16="http://schemas.microsoft.com/office/drawing/2014/main" id="{E8D672D6-209B-3C42-A855-6BD92CBE0329}"/>
              </a:ext>
            </a:extLst>
          </p:cNvPr>
          <p:cNvSpPr>
            <a:spLocks/>
          </p:cNvSpPr>
          <p:nvPr/>
        </p:nvSpPr>
        <p:spPr>
          <a:xfrm>
            <a:off x="6528210" y="1950588"/>
            <a:ext cx="2460116" cy="2449962"/>
          </a:xfrm>
          <a:prstGeom prst="roundRect">
            <a:avLst>
              <a:gd name="adj" fmla="val 123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r>
              <a:rPr lang="en-US" sz="1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Math/CS TA – </a:t>
            </a:r>
            <a:r>
              <a:rPr lang="en-US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went to school planning to be a </a:t>
            </a:r>
            <a:r>
              <a:rPr lang="en-US" sz="1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Maths</a:t>
            </a:r>
            <a:r>
              <a:rPr lang="en-US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teacher.</a:t>
            </a:r>
          </a:p>
          <a:p>
            <a:pPr marL="2286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endParaRPr lang="en-US" sz="1000" b="1" dirty="0">
              <a:solidFill>
                <a:schemeClr val="dk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r>
              <a:rPr lang="en-US" sz="1000" b="1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High School Mathematics – </a:t>
            </a:r>
            <a:r>
              <a:rPr lang="en-US" sz="1000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Turns out teaching people that don’t want to be there is terrible.</a:t>
            </a:r>
            <a:endParaRPr sz="1000" dirty="0">
              <a:solidFill>
                <a:schemeClr val="dk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28600" lvl="0" indent="-1905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r>
              <a:rPr lang="en" sz="1000" b="1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Professional Education </a:t>
            </a:r>
            <a:r>
              <a:rPr lang="en" sz="1000" dirty="0">
                <a:solidFill>
                  <a:schemeClr val="dk1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rPr>
              <a:t>– Fell back into giving training when I moved to Cyber</a:t>
            </a:r>
          </a:p>
          <a:p>
            <a:pPr marL="228600" lvl="0" indent="-1905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Helvetica Neue"/>
              <a:buChar char="➔"/>
            </a:pPr>
            <a:r>
              <a:rPr lang="en" sz="10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Speaking – </a:t>
            </a:r>
            <a:r>
              <a:rPr lang="en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Lots of it at conferences and user groups. More of it to managers at companies.</a:t>
            </a:r>
            <a:endParaRPr lang="en" sz="1000" dirty="0">
              <a:solidFill>
                <a:schemeClr val="dk1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59;p16">
            <a:extLst>
              <a:ext uri="{FF2B5EF4-FFF2-40B4-BE49-F238E27FC236}">
                <a16:creationId xmlns:a16="http://schemas.microsoft.com/office/drawing/2014/main" id="{804D7799-97A2-0843-B6D6-66E773FC7024}"/>
              </a:ext>
            </a:extLst>
          </p:cNvPr>
          <p:cNvSpPr>
            <a:spLocks/>
          </p:cNvSpPr>
          <p:nvPr/>
        </p:nvSpPr>
        <p:spPr>
          <a:xfrm>
            <a:off x="8406600" y="1573488"/>
            <a:ext cx="585000" cy="377100"/>
          </a:xfrm>
          <a:prstGeom prst="rect">
            <a:avLst/>
          </a:prstGeom>
          <a:solidFill>
            <a:srgbClr val="52525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E7E7E7"/>
              </a:solidFill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528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code. Conditionally.</a:t>
            </a:r>
          </a:p>
          <a:p>
            <a:pPr lvl="1"/>
            <a:r>
              <a:rPr lang="en-US" dirty="0"/>
              <a:t>Make the right call on what and how to run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That means</a:t>
            </a:r>
          </a:p>
          <a:p>
            <a:pPr lvl="1"/>
            <a:r>
              <a:rPr lang="en-US" dirty="0"/>
              <a:t>Knowing your environment</a:t>
            </a:r>
          </a:p>
          <a:p>
            <a:pPr lvl="1"/>
            <a:r>
              <a:rPr lang="en-US" dirty="0"/>
              <a:t>Knowing your goals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07500" cy="441900"/>
          </a:xfrm>
        </p:spPr>
        <p:txBody>
          <a:bodyPr/>
          <a:lstStyle/>
          <a:p>
            <a:pPr algn="l"/>
            <a:r>
              <a:rPr lang="en-US" dirty="0"/>
              <a:t>What are we doing?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6" name="Google Shape;137;p24">
            <a:extLst>
              <a:ext uri="{FF2B5EF4-FFF2-40B4-BE49-F238E27FC236}">
                <a16:creationId xmlns:a16="http://schemas.microsoft.com/office/drawing/2014/main" id="{0F907F01-232F-534B-9C73-D3D667CC2319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3</a:t>
            </a:fld>
            <a:endParaRPr lang="en" dirty="0">
              <a:solidFill>
                <a:schemeClr val="bg1"/>
              </a:solidFill>
            </a:endParaRPr>
          </a:p>
        </p:txBody>
      </p:sp>
      <p:sp>
        <p:nvSpPr>
          <p:cNvPr id="7" name="Google Shape;137;p24">
            <a:extLst>
              <a:ext uri="{FF2B5EF4-FFF2-40B4-BE49-F238E27FC236}">
                <a16:creationId xmlns:a16="http://schemas.microsoft.com/office/drawing/2014/main" id="{1AA91321-6CF4-7242-B0F4-65F460922C1B}"/>
              </a:ext>
            </a:extLst>
          </p:cNvPr>
          <p:cNvSpPr txBox="1">
            <a:spLocks/>
          </p:cNvSpPr>
          <p:nvPr/>
        </p:nvSpPr>
        <p:spPr>
          <a:xfrm>
            <a:off x="8522975" y="50243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/>
              <a:pPr algn="r"/>
              <a:t>3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248121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Operating system (someone else’s problem)</a:t>
            </a:r>
          </a:p>
          <a:p>
            <a:pPr lvl="1"/>
            <a:r>
              <a:rPr lang="en-US" dirty="0"/>
              <a:t>Different payloads for different OSes and even patch levels</a:t>
            </a:r>
          </a:p>
          <a:p>
            <a:pPr lvl="1"/>
            <a:r>
              <a:rPr lang="en-US" dirty="0"/>
              <a:t>OS, Patch Level, and even things like language can impact your exploit landing.</a:t>
            </a:r>
          </a:p>
          <a:p>
            <a:endParaRPr lang="en-US" dirty="0"/>
          </a:p>
          <a:p>
            <a:r>
              <a:rPr lang="en-US" dirty="0"/>
              <a:t>Bare metal or a VM? (today’s problem)</a:t>
            </a:r>
          </a:p>
          <a:p>
            <a:pPr lvl="1"/>
            <a:r>
              <a:rPr lang="en-US" dirty="0"/>
              <a:t>Behavior of the machine may differ</a:t>
            </a:r>
          </a:p>
          <a:p>
            <a:pPr lvl="1"/>
            <a:r>
              <a:rPr lang="en-US" dirty="0"/>
              <a:t>User’s intention may differ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What (environmental) conditions?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7F8956B8-2006-6340-A7E4-D17564F31949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4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67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we’re evil people doing evil things.</a:t>
            </a:r>
          </a:p>
          <a:p>
            <a:pPr lvl="1"/>
            <a:r>
              <a:rPr lang="en-US" dirty="0"/>
              <a:t>Avoid detection</a:t>
            </a:r>
          </a:p>
          <a:p>
            <a:pPr lvl="2"/>
            <a:r>
              <a:rPr lang="en-US" dirty="0"/>
              <a:t>What tools and alerting exist? (not my problem)</a:t>
            </a:r>
          </a:p>
          <a:p>
            <a:pPr lvl="2"/>
            <a:r>
              <a:rPr lang="en-US" dirty="0"/>
              <a:t>Prod system or dev?</a:t>
            </a:r>
          </a:p>
          <a:p>
            <a:pPr lvl="1"/>
            <a:r>
              <a:rPr lang="en-US" dirty="0"/>
              <a:t>Avoid analysis</a:t>
            </a:r>
          </a:p>
          <a:p>
            <a:pPr lvl="2"/>
            <a:r>
              <a:rPr lang="en-US" b="1" dirty="0"/>
              <a:t>MOST</a:t>
            </a:r>
            <a:r>
              <a:rPr lang="en-US" dirty="0"/>
              <a:t> malware analysis happens in an enclaved VM of some kind</a:t>
            </a:r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Know your target. Know your environment. Know your goal.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Why do I care?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E0F65856-2752-4645-9A7B-6072106D3997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5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74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Target Enumeration is always the first step</a:t>
            </a:r>
          </a:p>
          <a:p>
            <a:pPr lvl="1"/>
            <a:r>
              <a:rPr lang="en-US" dirty="0"/>
              <a:t>Before you throw a payload, you want to know as much as you can about your environment (without arousing suspicion)</a:t>
            </a:r>
          </a:p>
          <a:p>
            <a:pPr lvl="1"/>
            <a:r>
              <a:rPr lang="en-US" dirty="0"/>
              <a:t>Some enumeration is done before ever landing on a box (network behavior,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Most enumeration happens during “stage 0” to decide if we should exploit at all. Some happens prior to stage 2.</a:t>
            </a:r>
          </a:p>
          <a:p>
            <a:r>
              <a:rPr lang="en-US" b="1" dirty="0"/>
              <a:t>Find out as much as we can</a:t>
            </a:r>
            <a:endParaRPr lang="en-US" dirty="0"/>
          </a:p>
          <a:p>
            <a:pPr lvl="1"/>
            <a:r>
              <a:rPr lang="en-US" dirty="0"/>
              <a:t>If it changes how you act, figure it out.</a:t>
            </a:r>
          </a:p>
          <a:p>
            <a:pPr lvl="2"/>
            <a:r>
              <a:rPr lang="en-US" dirty="0"/>
              <a:t>OS, patch level, </a:t>
            </a:r>
            <a:r>
              <a:rPr lang="en-US" b="1" dirty="0"/>
              <a:t>if it’s a VM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Know your environment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208B0AC9-C82B-8F45-B015-46CB27AD3AD1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6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274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all things, enumeration has levels</a:t>
            </a:r>
          </a:p>
          <a:p>
            <a:pPr lvl="1"/>
            <a:r>
              <a:rPr lang="en-US" dirty="0"/>
              <a:t>Some methods are innocuous, and thus not detected</a:t>
            </a:r>
          </a:p>
          <a:p>
            <a:pPr lvl="1"/>
            <a:r>
              <a:rPr lang="en-US" dirty="0"/>
              <a:t>Some methods are noisy and/or suspicious, and thus watched for</a:t>
            </a:r>
          </a:p>
          <a:p>
            <a:endParaRPr lang="en-US" dirty="0"/>
          </a:p>
          <a:p>
            <a:r>
              <a:rPr lang="en-US" dirty="0"/>
              <a:t>Only scan as deeply as you need to to reach your goals</a:t>
            </a:r>
          </a:p>
          <a:p>
            <a:pPr lvl="1"/>
            <a:r>
              <a:rPr lang="en-US" dirty="0"/>
              <a:t>Specific asset</a:t>
            </a:r>
          </a:p>
          <a:p>
            <a:pPr lvl="1"/>
            <a:r>
              <a:rPr lang="en-US" dirty="0"/>
              <a:t>Specific OS</a:t>
            </a:r>
          </a:p>
          <a:p>
            <a:pPr lvl="1"/>
            <a:r>
              <a:rPr lang="en-US" dirty="0"/>
              <a:t>Do you care about being analyzed?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Know your goals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898E35FE-09A2-F944-B1F0-1565D8739700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7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089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you want to know if you’re on a VM…</a:t>
            </a:r>
          </a:p>
          <a:p>
            <a:pPr lvl="1"/>
            <a:r>
              <a:rPr lang="en-US" dirty="0"/>
              <a:t>As with most things, let’s take our lessons from Malware. They’re as evil as we are.</a:t>
            </a:r>
          </a:p>
          <a:p>
            <a:endParaRPr lang="en-US" dirty="0"/>
          </a:p>
          <a:p>
            <a:r>
              <a:rPr lang="en-US" b="1" dirty="0"/>
              <a:t>All</a:t>
            </a:r>
            <a:r>
              <a:rPr lang="en-US" dirty="0"/>
              <a:t> sandboxing has fingerprints. Nothing is perfect. Find the anomaly and you have your answer.</a:t>
            </a:r>
            <a:endParaRPr lang="en-US" b="1" dirty="0"/>
          </a:p>
          <a:p>
            <a:pPr lvl="1"/>
            <a:r>
              <a:rPr lang="en-US" dirty="0"/>
              <a:t>Hardware / Device (especially CPU)</a:t>
            </a:r>
          </a:p>
          <a:p>
            <a:pPr lvl="1"/>
            <a:r>
              <a:rPr lang="en-US" dirty="0"/>
              <a:t>Software</a:t>
            </a:r>
          </a:p>
          <a:p>
            <a:pPr lvl="1"/>
            <a:r>
              <a:rPr lang="en-US" dirty="0"/>
              <a:t>Network</a:t>
            </a:r>
          </a:p>
          <a:p>
            <a:pPr lvl="1"/>
            <a:r>
              <a:rPr lang="en-US" dirty="0"/>
              <a:t>Other analysis techniques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Ok, enough background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29628858-1247-5847-8CD0-A38D9CA076D4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8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701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start with the brains – the CPU</a:t>
            </a:r>
          </a:p>
          <a:p>
            <a:pPr lvl="1"/>
            <a:r>
              <a:rPr lang="en-US" dirty="0"/>
              <a:t>Getting information about the CPU is easy, especially on x86 – it’s built into the CPU since the Pentium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Vendor, Brand, even Hypervisor</a:t>
            </a:r>
          </a:p>
          <a:p>
            <a:pPr lvl="2"/>
            <a:r>
              <a:rPr lang="en-US" dirty="0"/>
              <a:t>"KVMKVMKVM\0\0\0”, "Microsoft </a:t>
            </a:r>
            <a:r>
              <a:rPr lang="en-US" dirty="0" err="1"/>
              <a:t>Hv</a:t>
            </a:r>
            <a:r>
              <a:rPr lang="en-US" dirty="0"/>
              <a:t>”, "</a:t>
            </a:r>
            <a:r>
              <a:rPr lang="en-US" dirty="0" err="1"/>
              <a:t>VMwareVMware</a:t>
            </a:r>
            <a:r>
              <a:rPr lang="en-US" dirty="0"/>
              <a:t>”, "</a:t>
            </a:r>
            <a:r>
              <a:rPr lang="en-US" dirty="0" err="1"/>
              <a:t>XenVMMXenVMM</a:t>
            </a:r>
            <a:r>
              <a:rPr lang="en-US" dirty="0"/>
              <a:t>”, "</a:t>
            </a:r>
            <a:r>
              <a:rPr lang="en-US" dirty="0" err="1"/>
              <a:t>VBoxVBoxVBox</a:t>
            </a:r>
            <a:r>
              <a:rPr lang="en-US" dirty="0"/>
              <a:t>"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Time to dig deep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850E69-8621-F343-8DF7-1BDD598C8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74414"/>
            <a:ext cx="9144000" cy="1640336"/>
          </a:xfrm>
          <a:prstGeom prst="rect">
            <a:avLst/>
          </a:prstGeom>
        </p:spPr>
      </p:pic>
      <p:sp>
        <p:nvSpPr>
          <p:cNvPr id="6" name="Google Shape;137;p24">
            <a:extLst>
              <a:ext uri="{FF2B5EF4-FFF2-40B4-BE49-F238E27FC236}">
                <a16:creationId xmlns:a16="http://schemas.microsoft.com/office/drawing/2014/main" id="{67085D1F-830B-CB4F-8CF7-C7CA0B8FAD2B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9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78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learn a lot about a system from just querying its CPU</a:t>
            </a:r>
          </a:p>
          <a:p>
            <a:pPr lvl="1"/>
            <a:r>
              <a:rPr lang="en-US" dirty="0"/>
              <a:t># of cores – match default values for VMs?</a:t>
            </a:r>
          </a:p>
          <a:p>
            <a:pPr lvl="1"/>
            <a:r>
              <a:rPr lang="en-US" dirty="0"/>
              <a:t>Brand / vendor / hypervisor match a known VM value?</a:t>
            </a:r>
          </a:p>
          <a:p>
            <a:endParaRPr lang="en-US" dirty="0"/>
          </a:p>
          <a:p>
            <a:r>
              <a:rPr lang="en-US" dirty="0"/>
              <a:t>But there’s more to learn!</a:t>
            </a:r>
          </a:p>
          <a:p>
            <a:pPr lvl="1"/>
            <a:r>
              <a:rPr lang="en-US" dirty="0"/>
              <a:t>Timing (do things that take longer take longer? Are timings artificial?)</a:t>
            </a:r>
          </a:p>
          <a:p>
            <a:pPr lvl="1"/>
            <a:r>
              <a:rPr lang="en-US" dirty="0"/>
              <a:t>Handling of VM-specific opcodes (</a:t>
            </a:r>
            <a:r>
              <a:rPr lang="en-US" dirty="0" err="1"/>
              <a:t>VMExit</a:t>
            </a:r>
            <a:r>
              <a:rPr lang="en-US" dirty="0"/>
              <a:t>, et al)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The CPU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A544BF1E-59AC-0644-9BAF-5AEF47058FC4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10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648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move on from the CPU to other devices</a:t>
            </a:r>
          </a:p>
          <a:p>
            <a:pPr lvl="1"/>
            <a:r>
              <a:rPr lang="en-US" dirty="0"/>
              <a:t>Check known device MACs (VMWare vendor in the EUI-48?)</a:t>
            </a:r>
          </a:p>
          <a:p>
            <a:pPr lvl="2"/>
            <a:r>
              <a:rPr lang="en-US" dirty="0"/>
              <a:t>00:05:69, 00:0C:29, 00:1C:14 or 00:50:56</a:t>
            </a:r>
          </a:p>
          <a:p>
            <a:pPr lvl="1"/>
            <a:r>
              <a:rPr lang="en-US" dirty="0"/>
              <a:t>Network adapter name (literally contains VMware)</a:t>
            </a:r>
          </a:p>
          <a:p>
            <a:pPr lvl="1"/>
            <a:r>
              <a:rPr lang="en-US" dirty="0"/>
              <a:t>VMWare Pseudo devices</a:t>
            </a:r>
          </a:p>
          <a:p>
            <a:pPr lvl="2"/>
            <a:r>
              <a:rPr lang="en-US" dirty="0"/>
              <a:t>\\.\HGFS, \\.\</a:t>
            </a:r>
            <a:r>
              <a:rPr lang="en-US" dirty="0" err="1"/>
              <a:t>vmci</a:t>
            </a:r>
            <a:endParaRPr lang="en-US" dirty="0"/>
          </a:p>
          <a:p>
            <a:pPr lvl="1"/>
            <a:r>
              <a:rPr lang="en-US" dirty="0"/>
              <a:t>VMWare Serial Number (query via WMI!) – literally contains “VMWare”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The System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FC216FB3-CCAD-614B-85B7-C36410A4ED53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11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243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VMWare virtualization is not, at its core, intended for analysis, it doesn’t hide well</a:t>
            </a:r>
          </a:p>
          <a:p>
            <a:pPr lvl="1"/>
            <a:r>
              <a:rPr lang="en-US" dirty="0"/>
              <a:t>Is VMWare Tools installed?</a:t>
            </a:r>
          </a:p>
          <a:p>
            <a:pPr lvl="2"/>
            <a:r>
              <a:rPr lang="en-US" dirty="0"/>
              <a:t>HKLM\\SOFTWARE\\VMware, Inc.\\VMware Tools</a:t>
            </a:r>
          </a:p>
          <a:p>
            <a:pPr lvl="2"/>
            <a:r>
              <a:rPr lang="en-US" dirty="0"/>
              <a:t>How about </a:t>
            </a:r>
            <a:r>
              <a:rPr lang="en-US" dirty="0" err="1"/>
              <a:t>vmmouse.sys</a:t>
            </a:r>
            <a:r>
              <a:rPr lang="en-US" dirty="0"/>
              <a:t>? C:\\WINDOWS\\system32\\drivers\\</a:t>
            </a:r>
            <a:r>
              <a:rPr lang="en-US" dirty="0" err="1"/>
              <a:t>vmmouse.sys</a:t>
            </a:r>
            <a:endParaRPr lang="en-US" dirty="0"/>
          </a:p>
          <a:p>
            <a:pPr lvl="2"/>
            <a:r>
              <a:rPr lang="en-US" dirty="0" err="1"/>
              <a:t>vmhgfs</a:t>
            </a:r>
            <a:r>
              <a:rPr lang="en-US" dirty="0"/>
              <a:t>? C:\\WINDOWS\\system32\\drivers\\</a:t>
            </a:r>
            <a:r>
              <a:rPr lang="en-US" dirty="0" err="1"/>
              <a:t>vmhgfs.sys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The Registry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91DB0452-B763-BE44-9FDD-7B74460F748D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12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885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VMWare virtualization is not, at its core, intended for analysis, it doesn’t hide well</a:t>
            </a:r>
          </a:p>
          <a:p>
            <a:pPr lvl="1"/>
            <a:r>
              <a:rPr lang="en-US" dirty="0"/>
              <a:t>VMware-specific device names contain VMWARE</a:t>
            </a:r>
          </a:p>
          <a:p>
            <a:pPr lvl="2"/>
            <a:r>
              <a:rPr lang="en-US" dirty="0"/>
              <a:t>HARDWARE\\DEVICEMAP\\</a:t>
            </a:r>
            <a:r>
              <a:rPr lang="en-US" dirty="0" err="1"/>
              <a:t>Scsi</a:t>
            </a:r>
            <a:r>
              <a:rPr lang="en-US" dirty="0"/>
              <a:t>\\</a:t>
            </a:r>
            <a:r>
              <a:rPr lang="en-US" dirty="0" err="1"/>
              <a:t>Scsi</a:t>
            </a:r>
            <a:r>
              <a:rPr lang="en-US" dirty="0"/>
              <a:t> Port 0\\</a:t>
            </a:r>
            <a:r>
              <a:rPr lang="en-US" dirty="0" err="1"/>
              <a:t>Scsi</a:t>
            </a:r>
            <a:r>
              <a:rPr lang="en-US" dirty="0"/>
              <a:t> Bus 0\\Target Id 0\\Logical Unit Id 0</a:t>
            </a:r>
          </a:p>
          <a:p>
            <a:pPr lvl="2"/>
            <a:r>
              <a:rPr lang="en-US" dirty="0"/>
              <a:t>HARDWARE\\DEVICEMAP\\</a:t>
            </a:r>
            <a:r>
              <a:rPr lang="en-US" dirty="0" err="1"/>
              <a:t>Scsi</a:t>
            </a:r>
            <a:r>
              <a:rPr lang="en-US" dirty="0"/>
              <a:t>\\</a:t>
            </a:r>
            <a:r>
              <a:rPr lang="en-US" dirty="0" err="1"/>
              <a:t>Scsi</a:t>
            </a:r>
            <a:r>
              <a:rPr lang="en-US" dirty="0"/>
              <a:t> Port 1\\</a:t>
            </a:r>
            <a:r>
              <a:rPr lang="en-US" dirty="0" err="1"/>
              <a:t>Scsi</a:t>
            </a:r>
            <a:r>
              <a:rPr lang="en-US" dirty="0"/>
              <a:t> Bus 0\\Target Id 0\\Logical Unit Id 0</a:t>
            </a:r>
          </a:p>
          <a:p>
            <a:pPr lvl="2"/>
            <a:r>
              <a:rPr lang="en-US" dirty="0"/>
              <a:t>HARDWARE\\DEVICEMAP\\</a:t>
            </a:r>
            <a:r>
              <a:rPr lang="en-US" dirty="0" err="1"/>
              <a:t>Scsi</a:t>
            </a:r>
            <a:r>
              <a:rPr lang="en-US" dirty="0"/>
              <a:t>\\</a:t>
            </a:r>
            <a:r>
              <a:rPr lang="en-US" dirty="0" err="1"/>
              <a:t>Scsi</a:t>
            </a:r>
            <a:r>
              <a:rPr lang="en-US" dirty="0"/>
              <a:t> Port 2\\</a:t>
            </a:r>
            <a:r>
              <a:rPr lang="en-US" dirty="0" err="1"/>
              <a:t>Scsi</a:t>
            </a:r>
            <a:r>
              <a:rPr lang="en-US" dirty="0"/>
              <a:t> Bus 0\\Target Id 0\\Logical Unit Id 0"</a:t>
            </a: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The Registry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164CBBF3-1E2C-C046-A4E2-9EC8356F07E3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13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235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Now that we have a bunch of things to check, we can build heuristics</a:t>
            </a:r>
          </a:p>
          <a:p>
            <a:endParaRPr lang="en-US" dirty="0"/>
          </a:p>
          <a:p>
            <a:r>
              <a:rPr lang="en-US" dirty="0"/>
              <a:t>Combine general VM checks (timing, CPUID results, </a:t>
            </a:r>
            <a:r>
              <a:rPr lang="en-US" dirty="0" err="1"/>
              <a:t>etc</a:t>
            </a:r>
            <a:r>
              <a:rPr lang="en-US" dirty="0"/>
              <a:t>) with VMware-specific checks; give each element a value, and keep a running total.</a:t>
            </a:r>
          </a:p>
          <a:p>
            <a:endParaRPr lang="en-US" dirty="0"/>
          </a:p>
          <a:p>
            <a:r>
              <a:rPr lang="en-US" dirty="0"/>
              <a:t>Set an acceptable threshold for your decision making.</a:t>
            </a:r>
          </a:p>
          <a:p>
            <a:endParaRPr lang="en-US" dirty="0"/>
          </a:p>
          <a:p>
            <a:r>
              <a:rPr lang="en-US" dirty="0"/>
              <a:t>It’s that simple.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Putting it Together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F2872B12-CC36-0543-AD34-F534460565CD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14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56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VMDetect</a:t>
            </a:r>
            <a:r>
              <a:rPr lang="en-US" dirty="0"/>
              <a:t> v1 detects the presence of some general artifacts, and VMware artifacts, and tells you its certainty level.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This capabilities module takes no input, and performs only one action – run the heuristics, and return a number. Further actions in the Scythe platform can use this number.</a:t>
            </a:r>
          </a:p>
          <a:p>
            <a:endParaRPr lang="en-US" dirty="0"/>
          </a:p>
          <a:p>
            <a:r>
              <a:rPr lang="en-US" dirty="0"/>
              <a:t>Heavy thanks to other security researchers (especially the Paranoid Fish team). I stand on the shoulders of giants.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In Scythe!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B641DAEC-463A-9144-8E58-E1C86D2240BC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15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VMDetect</a:t>
            </a:r>
            <a:r>
              <a:rPr lang="en-US" dirty="0"/>
              <a:t> v2 will include other Hypervisors (</a:t>
            </a:r>
            <a:r>
              <a:rPr lang="en-US" dirty="0" err="1"/>
              <a:t>VBox</a:t>
            </a:r>
            <a:r>
              <a:rPr lang="en-US" dirty="0"/>
              <a:t>, </a:t>
            </a:r>
            <a:r>
              <a:rPr lang="en-US" dirty="0" err="1"/>
              <a:t>HyperV</a:t>
            </a:r>
            <a:r>
              <a:rPr lang="en-US" dirty="0"/>
              <a:t>, KVM, Xen)</a:t>
            </a:r>
          </a:p>
          <a:p>
            <a:r>
              <a:rPr lang="en-US" dirty="0"/>
              <a:t>Additional generic detection methods (mouse activity, name, common sample names, disk size, patched sleep, tick count, </a:t>
            </a:r>
            <a:r>
              <a:rPr lang="en-US" dirty="0" err="1"/>
              <a:t>timelock</a:t>
            </a:r>
            <a:r>
              <a:rPr lang="en-US" dirty="0"/>
              <a:t> puzzles, </a:t>
            </a:r>
            <a:r>
              <a:rPr lang="en-US" dirty="0" err="1"/>
              <a:t>GetProcInfo</a:t>
            </a:r>
            <a:r>
              <a:rPr lang="en-US" dirty="0"/>
              <a:t> vs raw access data, physical memory size, uptime)</a:t>
            </a:r>
          </a:p>
          <a:p>
            <a:r>
              <a:rPr lang="en-US" dirty="0"/>
              <a:t>Hook detection</a:t>
            </a:r>
          </a:p>
          <a:p>
            <a:r>
              <a:rPr lang="en-US" dirty="0"/>
              <a:t>Configurable Heuristics</a:t>
            </a:r>
          </a:p>
          <a:p>
            <a:r>
              <a:rPr lang="en-US" dirty="0"/>
              <a:t>Debugger detection (multiple ways)</a:t>
            </a:r>
          </a:p>
          <a:p>
            <a:r>
              <a:rPr lang="en-US" dirty="0"/>
              <a:t>Network sandbox tool detection via valid/invalid DNS queries, common IPs,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Known breakout mitigations</a:t>
            </a:r>
          </a:p>
          <a:p>
            <a:r>
              <a:rPr lang="en-US" dirty="0"/>
              <a:t>The list goes on</a:t>
            </a:r>
          </a:p>
          <a:p>
            <a:r>
              <a:rPr lang="en-US" dirty="0"/>
              <a:t>Our work is never done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Future Work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sp>
        <p:nvSpPr>
          <p:cNvPr id="5" name="Google Shape;137;p24">
            <a:extLst>
              <a:ext uri="{FF2B5EF4-FFF2-40B4-BE49-F238E27FC236}">
                <a16:creationId xmlns:a16="http://schemas.microsoft.com/office/drawing/2014/main" id="{B641DAEC-463A-9144-8E58-E1C86D2240BC}"/>
              </a:ext>
            </a:extLst>
          </p:cNvPr>
          <p:cNvSpPr txBox="1">
            <a:spLocks/>
          </p:cNvSpPr>
          <p:nvPr/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fld id="{00000000-1234-1234-1234-123412341234}" type="slidenum">
              <a:rPr lang="en" smtClean="0">
                <a:solidFill>
                  <a:schemeClr val="bg1"/>
                </a:solidFill>
              </a:rPr>
              <a:pPr algn="r"/>
              <a:t>16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487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sldNum" idx="12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17</a:t>
            </a:fld>
            <a:endParaRPr>
              <a:uFillTx/>
            </a:endParaRPr>
          </a:p>
        </p:txBody>
      </p:sp>
      <p:sp>
        <p:nvSpPr>
          <p:cNvPr id="137" name="Google Shape;137;p24"/>
          <p:cNvSpPr txBox="1">
            <a:spLocks noGrp="1"/>
          </p:cNvSpPr>
          <p:nvPr>
            <p:ph type="sldNum" idx="3"/>
          </p:nvPr>
        </p:nvSpPr>
        <p:spPr>
          <a:xfrm>
            <a:off x="8370575" y="4871975"/>
            <a:ext cx="773400" cy="2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uFillTx/>
              </a:rPr>
              <a:t>17</a:t>
            </a:fld>
            <a:endParaRPr>
              <a:uFillTx/>
            </a:endParaRPr>
          </a:p>
        </p:txBody>
      </p:sp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63500" y="234700"/>
            <a:ext cx="7128900" cy="7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200" dirty="0">
                <a:uFillTx/>
              </a:rPr>
              <a:t>GRIMM is easily reached on the web</a:t>
            </a:r>
            <a:endParaRPr sz="2200" dirty="0">
              <a:uFillTx/>
            </a:endParaRPr>
          </a:p>
        </p:txBody>
      </p:sp>
      <p:pic>
        <p:nvPicPr>
          <p:cNvPr id="8" name="Google Shape;367;p3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52399" y="1348200"/>
            <a:ext cx="8839201" cy="33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367CD934-3D01-F445-A2BE-D4945DA24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79B50-5167-9448-BA7E-D89C8907D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pPr marL="114300" indent="0">
              <a:buNone/>
            </a:pPr>
            <a:r>
              <a:rPr lang="en-US" b="1" dirty="0"/>
              <a:t>	@</a:t>
            </a:r>
            <a:r>
              <a:rPr lang="en-US" b="1" dirty="0" err="1"/>
              <a:t>AreTillery</a:t>
            </a:r>
            <a:endParaRPr lang="en-US" b="1" dirty="0"/>
          </a:p>
          <a:p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/>
              <a:t>	 https://</a:t>
            </a:r>
            <a:r>
              <a:rPr lang="en-US" b="1" dirty="0" err="1"/>
              <a:t>github.com</a:t>
            </a:r>
            <a:r>
              <a:rPr lang="en-US" b="1" dirty="0"/>
              <a:t>/</a:t>
            </a:r>
            <a:r>
              <a:rPr lang="en-US" b="1" dirty="0" err="1"/>
              <a:t>AreTillery</a:t>
            </a:r>
            <a:r>
              <a:rPr lang="en-US" b="1" dirty="0"/>
              <a:t>/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/>
              <a:t>	 </a:t>
            </a:r>
            <a:r>
              <a:rPr lang="en-US" b="1" dirty="0" err="1"/>
              <a:t>tillery@tillery.fyi</a:t>
            </a:r>
            <a:endParaRPr lang="en-US" b="1" dirty="0"/>
          </a:p>
          <a:p>
            <a:pPr marL="114300" indent="0">
              <a:buNone/>
            </a:pPr>
            <a:r>
              <a:rPr lang="en-US" b="1" dirty="0"/>
              <a:t>	 </a:t>
            </a:r>
            <a:r>
              <a:rPr lang="en-US" b="1" dirty="0" err="1"/>
              <a:t>tillery@grimm.rip</a:t>
            </a:r>
            <a:endParaRPr lang="en-US" b="1" dirty="0"/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r>
              <a:rPr lang="en-US" b="1" dirty="0"/>
              <a:t>	 https://</a:t>
            </a:r>
            <a:r>
              <a:rPr lang="en-US" b="1" dirty="0" err="1"/>
              <a:t>tillery.fyi</a:t>
            </a:r>
            <a:r>
              <a:rPr lang="en-US" b="1" dirty="0"/>
              <a:t>/</a:t>
            </a:r>
            <a:r>
              <a:rPr lang="en-US" b="1" dirty="0" err="1"/>
              <a:t>pgp</a:t>
            </a: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C6B34-E867-E945-8EEE-CC09DFB7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47409"/>
            <a:ext cx="5174700" cy="441900"/>
          </a:xfrm>
        </p:spPr>
        <p:txBody>
          <a:bodyPr/>
          <a:lstStyle/>
          <a:p>
            <a:pPr algn="l"/>
            <a:r>
              <a:rPr lang="en-US" dirty="0"/>
              <a:t>And so am I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7484243-FBEF-8143-9495-9AEEC17A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9182"/>
            <a:ext cx="1772239" cy="868218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557FF768-4948-B24D-994D-2541F71FD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989309"/>
            <a:ext cx="1244600" cy="124460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AA1466C4-93EB-3945-9F8C-EAF519DED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96792"/>
            <a:ext cx="812800" cy="812800"/>
          </a:xfrm>
          <a:prstGeom prst="rect">
            <a:avLst/>
          </a:prstGeom>
        </p:spPr>
      </p:pic>
      <p:pic>
        <p:nvPicPr>
          <p:cNvPr id="1026" name="Picture 2" descr="Gmail">
            <a:extLst>
              <a:ext uri="{FF2B5EF4-FFF2-40B4-BE49-F238E27FC236}">
                <a16:creationId xmlns:a16="http://schemas.microsoft.com/office/drawing/2014/main" id="{616A7E3A-2E51-A645-886E-E040F5320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81350"/>
            <a:ext cx="835526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61CAD7D-3684-9B4A-9972-E09822725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3859191"/>
            <a:ext cx="585787" cy="76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5492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Grimm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</TotalTime>
  <Words>1195</Words>
  <Application>Microsoft Macintosh PowerPoint</Application>
  <PresentationFormat>On-screen Show (16:9)</PresentationFormat>
  <Paragraphs>165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Droid Sans</vt:lpstr>
      <vt:lpstr>Helvetica Neue</vt:lpstr>
      <vt:lpstr>Simple Light</vt:lpstr>
      <vt:lpstr>Grimm Template</vt:lpstr>
      <vt:lpstr>Where Am I?</vt:lpstr>
      <vt:lpstr>Who Am I?</vt:lpstr>
      <vt:lpstr>What are we doing?</vt:lpstr>
      <vt:lpstr>What (environmental) conditions?</vt:lpstr>
      <vt:lpstr>Why do I care?</vt:lpstr>
      <vt:lpstr>Know your environment</vt:lpstr>
      <vt:lpstr>Know your goals</vt:lpstr>
      <vt:lpstr>Ok, enough background</vt:lpstr>
      <vt:lpstr>Time to dig deep</vt:lpstr>
      <vt:lpstr>The CPU</vt:lpstr>
      <vt:lpstr>The System</vt:lpstr>
      <vt:lpstr>The Registry</vt:lpstr>
      <vt:lpstr>The Registry (cont)</vt:lpstr>
      <vt:lpstr>Putting it Together</vt:lpstr>
      <vt:lpstr>In Scythe!</vt:lpstr>
      <vt:lpstr>Future Work</vt:lpstr>
      <vt:lpstr>GRIMM is easily reached on the web</vt:lpstr>
      <vt:lpstr>And so am 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Results</dc:title>
  <cp:lastModifiedBy>Tillery</cp:lastModifiedBy>
  <cp:revision>37</cp:revision>
  <dcterms:modified xsi:type="dcterms:W3CDTF">2020-08-20T18:44:39Z</dcterms:modified>
</cp:coreProperties>
</file>